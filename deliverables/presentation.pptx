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560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Used Car Price Prediction</a:t>
            </a:r>
          </a:p>
          <a:p>
            <a:pPr>
              <a:spcBef>
                <a:spcPts val="1000"/>
              </a:spcBef>
              <a:defRPr sz="2200">
                <a:solidFill>
                  <a:srgbClr val="009688"/>
                </a:solidFill>
              </a:defRPr>
            </a:pPr>
            <a:r>
              <a:t>A Leakage-Free Machine Learning Regression Framework</a:t>
            </a:r>
          </a:p>
          <a:p>
            <a:pPr>
              <a:spcBef>
                <a:spcPts val="1500"/>
              </a:spcBef>
              <a:defRPr sz="1400">
                <a:solidFill>
                  <a:srgbClr val="C8DCF0"/>
                </a:solidFill>
              </a:defRPr>
            </a:pPr>
            <a:r>
              <a:t>Featuring Regex Parsing, Domain Feature Engineering, 6-Algorithm CV Benchmarking, and Segment Error Profiling</a:t>
            </a:r>
          </a:p>
          <a:p>
            <a:pPr>
              <a:spcBef>
                <a:spcPts val="3000"/>
              </a:spcBef>
              <a:defRPr sz="1200">
                <a:solidFill>
                  <a:srgbClr val="A0B4C8"/>
                </a:solidFill>
              </a:defRPr>
            </a:pPr>
            <a:r>
              <a:t>Vellore Institute of Technology, Andhra Pradesh (VIT-AP) | Machine Learning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Market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The Valuation Challenge</a:t>
            </a:r>
          </a:p>
          <a:p>
            <a:pPr>
              <a:spcBef>
                <a:spcPts val="1200"/>
              </a:spcBef>
              <a:defRPr sz="1300">
                <a:solidFill>
                  <a:srgbClr val="282828"/>
                </a:solidFill>
              </a:defRPr>
            </a:pPr>
            <a:r>
              <a:t>- Used car pricing suffers from significant information asymmetry between buyers and sellers.</a:t>
            </a:r>
          </a:p>
          <a:p>
            <a:pPr>
              <a:spcBef>
                <a:spcPts val="1200"/>
              </a:spcBef>
              <a:defRPr sz="1300">
                <a:solidFill>
                  <a:srgbClr val="282828"/>
                </a:solidFill>
              </a:defRPr>
            </a:pPr>
            <a:r>
              <a:t>- Manual appraisals are subjective, time-intensive, and prone to individual dealer biases.</a:t>
            </a:r>
          </a:p>
          <a:p>
            <a:pPr>
              <a:spcBef>
                <a:spcPts val="1200"/>
              </a:spcBef>
              <a:defRPr sz="1300">
                <a:solidFill>
                  <a:srgbClr val="282828"/>
                </a:solidFill>
              </a:defRPr>
            </a:pPr>
            <a:r>
              <a:t>- Vehicle depreciation exhibits strong non-linearities: rapid drops in early years followed by plateauing decay.</a:t>
            </a:r>
          </a:p>
          <a:p>
            <a:pPr>
              <a:spcBef>
                <a:spcPts val="1200"/>
              </a:spcBef>
              <a:defRPr sz="1300">
                <a:solidFill>
                  <a:srgbClr val="282828"/>
                </a:solidFill>
              </a:defRPr>
            </a:pPr>
            <a:r>
              <a:t>- Complex feature interdependencies: brand prestige, mileage decay, fuel efficiency, engine output, and odometer wear.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Business &amp; Technical Motivation</a:t>
            </a:r>
          </a:p>
          <a:p>
            <a:pPr>
              <a:spcBef>
                <a:spcPts val="1200"/>
              </a:spcBef>
              <a:defRPr sz="1300">
                <a:solidFill>
                  <a:srgbClr val="282828"/>
                </a:solidFill>
              </a:defRPr>
            </a:pPr>
            <a:r>
              <a:t>- Algorithmic Transparency: Provide instant, objective market valuations for resale platforms (CarDekho, Spinny, Cars24).</a:t>
            </a:r>
          </a:p>
          <a:p>
            <a:pPr>
              <a:spcBef>
                <a:spcPts val="1200"/>
              </a:spcBef>
              <a:defRPr sz="1300">
                <a:solidFill>
                  <a:srgbClr val="282828"/>
                </a:solidFill>
              </a:defRPr>
            </a:pPr>
            <a:r>
              <a:t>- Asset Underwriting: Deliver reliable residual asset value estimates for auto-lenders and insurance underwriters.</a:t>
            </a:r>
          </a:p>
          <a:p>
            <a:pPr>
              <a:spcBef>
                <a:spcPts val="1200"/>
              </a:spcBef>
              <a:defRPr sz="1300">
                <a:solidFill>
                  <a:srgbClr val="282828"/>
                </a:solidFill>
              </a:defRPr>
            </a:pPr>
            <a:r>
              <a:t>- Methodological Rigor: Eliminate pervasive data leakage found in academic literature through strict split isolation.</a:t>
            </a:r>
          </a:p>
          <a:p>
            <a:pPr>
              <a:spcBef>
                <a:spcPts val="1200"/>
              </a:spcBef>
              <a:defRPr sz="1300">
                <a:solidFill>
                  <a:srgbClr val="282828"/>
                </a:solidFill>
              </a:defRPr>
            </a:pPr>
            <a:r>
              <a:t>- Empirical Explainability: Understand exact monetary impact of mileage, vehicle age, and mechanical specifications.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Project Objectives &amp; Anti-Leakage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Key Project Objectives</a:t>
            </a:r>
          </a:p>
          <a:p>
            <a:pPr>
              <a:spcBef>
                <a:spcPts val="1200"/>
              </a:spcBef>
              <a:defRPr sz="1300" b="1">
                <a:solidFill>
                  <a:srgbClr val="2196F3"/>
                </a:solidFill>
              </a:defRPr>
            </a:pPr>
            <a:r>
              <a:t>Strict Data Hygiene: </a:t>
            </a:r>
            <a:r>
              <a:rPr b="0">
                <a:solidFill>
                  <a:srgbClr val="282828"/>
                </a:solidFill>
              </a:rPr>
              <a:t>Split dataset 80/20 before any outlier capping, imputation, or scaling to eliminate data leakage.</a:t>
            </a:r>
          </a:p>
          <a:p>
            <a:pPr>
              <a:spcBef>
                <a:spcPts val="1200"/>
              </a:spcBef>
              <a:defRPr sz="1300" b="1">
                <a:solidFill>
                  <a:srgbClr val="2196F3"/>
                </a:solidFill>
              </a:defRPr>
            </a:pPr>
            <a:r>
              <a:t>Domain Feature Extraction: </a:t>
            </a:r>
            <a:r>
              <a:rPr b="0">
                <a:solidFill>
                  <a:srgbClr val="282828"/>
                </a:solidFill>
              </a:rPr>
              <a:t>Parse numeric units (kmpl, CC, bhp, Nm, rpm) and create depreciation rate metrics (car_age, km_per_year).</a:t>
            </a:r>
          </a:p>
          <a:p>
            <a:pPr>
              <a:spcBef>
                <a:spcPts val="1200"/>
              </a:spcBef>
              <a:defRPr sz="1300" b="1">
                <a:solidFill>
                  <a:srgbClr val="2196F3"/>
                </a:solidFill>
              </a:defRPr>
            </a:pPr>
            <a:r>
              <a:t>Multi-Algorithmic Benchmark: </a:t>
            </a:r>
            <a:r>
              <a:rPr b="0">
                <a:solidFill>
                  <a:srgbClr val="282828"/>
                </a:solidFill>
              </a:rPr>
              <a:t>Train and tune 6 regression models across Linear, Regularized, Decision Tree, Bagging, and Boosting families.</a:t>
            </a:r>
          </a:p>
          <a:p>
            <a:pPr>
              <a:spcBef>
                <a:spcPts val="1200"/>
              </a:spcBef>
              <a:defRPr sz="1300" b="1">
                <a:solidFill>
                  <a:srgbClr val="2196F3"/>
                </a:solidFill>
              </a:defRPr>
            </a:pPr>
            <a:r>
              <a:t>Dual-Scale Valuation Tracking: </a:t>
            </a:r>
            <a:r>
              <a:rPr b="0">
                <a:solidFill>
                  <a:srgbClr val="282828"/>
                </a:solidFill>
              </a:rPr>
              <a:t>Evaluate all models on both log-transformed scale (variance stability) and real-world INR rupee scale.</a:t>
            </a:r>
          </a:p>
          <a:p>
            <a:pPr>
              <a:spcBef>
                <a:spcPts val="1200"/>
              </a:spcBef>
              <a:defRPr sz="1300" b="1">
                <a:solidFill>
                  <a:srgbClr val="2196F3"/>
                </a:solidFill>
              </a:defRPr>
            </a:pPr>
            <a:r>
              <a:t>Ablation &amp; Segmentation: </a:t>
            </a:r>
            <a:r>
              <a:rPr b="0">
                <a:solidFill>
                  <a:srgbClr val="282828"/>
                </a:solidFill>
              </a:rPr>
              <a:t>Quantify exact predictive lift of engineered features and isolate prediction error across price and brand 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DATA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Dataset Overview: CarDekho Used Car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Corpus Characteristics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t>Raw Dataset: 8,128 records with 13 original attributes.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t>De-duplication: Identified and pruned 1,679 duplicate listings (6,449 unique records retained).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t>Target Variable: selling_price (INR)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t>  - Min: Rs. 29,999 | Max: Rs. 10,000,000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t>  - Mean: Rs. 638,272 | Median: Rs. 450,000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t>Target Transformation: Extreme right-skewness corrected via log1p(y) mapping to stabilize variance.</a:t>
            </a:r>
          </a:p>
        </p:txBody>
      </p:sp>
      <p:pic>
        <p:nvPicPr>
          <p:cNvPr id="6" name="Picture 5" descr="eda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217920" cy="2192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DATA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Price Segmentation by Category &amp; Fuel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Key EDA Insights: Diesel vehicles command a premium over Petrol due to fuel economy and commercial utility; Automatic transmissions exhibit significantly higher median values than manuals; First owners retain the highest valuation.</a:t>
            </a:r>
          </a:p>
        </p:txBody>
      </p:sp>
      <p:pic>
        <p:nvPicPr>
          <p:cNvPr id="6" name="Picture 5" descr="eda_price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10698480" cy="2943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DATA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Feature Relationships &amp; 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Correlation Takeaways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Manufacturing Year vs Price: Strong positive correlation (+0.41); newer vehicles retain high value.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Kilometers Driven: Modest negative correlation (-0.23); high odometer readings discount prices non-linearly.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Engine &amp; Power: High positive correlation (+0.50 to +0.70) with selling price; larger displacements command premiums.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Multicollinearity: Engine CC and Max Power show strong collinearity, requiring regularization or tree-based splits.</a:t>
            </a:r>
          </a:p>
        </p:txBody>
      </p:sp>
      <p:pic>
        <p:nvPicPr>
          <p:cNvPr id="6" name="Picture 5" descr="eda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217920" cy="5546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FEATURE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Regex String Parsing &amp; Domain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Derived &amp; Extracted Feature Set</a:t>
            </a:r>
          </a:p>
          <a:p>
            <a:pPr>
              <a:spcBef>
                <a:spcPts val="800"/>
              </a:spcBef>
              <a:defRPr sz="1200" b="1">
                <a:solidFill>
                  <a:srgbClr val="2196F3"/>
                </a:solidFill>
              </a:defRPr>
            </a:pPr>
            <a:r>
              <a:t>mileage -&gt; mileage_kmpl: </a:t>
            </a:r>
            <a:r>
              <a:rPr b="0">
                <a:solidFill>
                  <a:srgbClr val="282828"/>
                </a:solidFill>
              </a:rPr>
              <a:t>Regex extraction of numeric efficiency from strings (e.g., '23.4 kmpl', '18.9 km/kg').</a:t>
            </a:r>
          </a:p>
          <a:p>
            <a:pPr>
              <a:spcBef>
                <a:spcPts val="800"/>
              </a:spcBef>
              <a:defRPr sz="1200" b="1">
                <a:solidFill>
                  <a:srgbClr val="2196F3"/>
                </a:solidFill>
              </a:defRPr>
            </a:pPr>
            <a:r>
              <a:t>engine -&gt; engine_cc: </a:t>
            </a:r>
            <a:r>
              <a:rPr b="0">
                <a:solidFill>
                  <a:srgbClr val="282828"/>
                </a:solidFill>
              </a:rPr>
              <a:t>Displacement volume parsed from CC strings (e.g., '1248 CC').</a:t>
            </a:r>
          </a:p>
          <a:p>
            <a:pPr>
              <a:spcBef>
                <a:spcPts val="800"/>
              </a:spcBef>
              <a:defRPr sz="1200" b="1">
                <a:solidFill>
                  <a:srgbClr val="2196F3"/>
                </a:solidFill>
              </a:defRPr>
            </a:pPr>
            <a:r>
              <a:t>max_power -&gt; max_power_bhp: </a:t>
            </a:r>
            <a:r>
              <a:rPr b="0">
                <a:solidFill>
                  <a:srgbClr val="282828"/>
                </a:solidFill>
              </a:rPr>
              <a:t>Brake horsepower extracted as clean float (e.g., '103.52 bhp').</a:t>
            </a:r>
          </a:p>
          <a:p>
            <a:pPr>
              <a:spcBef>
                <a:spcPts val="800"/>
              </a:spcBef>
              <a:defRPr sz="1200" b="1">
                <a:solidFill>
                  <a:srgbClr val="2196F3"/>
                </a:solidFill>
              </a:defRPr>
            </a:pPr>
            <a:r>
              <a:t>torque -&gt; torque_nm &amp; max_torque_rpm: </a:t>
            </a:r>
            <a:r>
              <a:rPr b="0">
                <a:solidFill>
                  <a:srgbClr val="282828"/>
                </a:solidFill>
              </a:rPr>
              <a:t>Automated parsing handling units, kgm-to-Nm conversion (x9.80665), and RPM range extractions.</a:t>
            </a:r>
          </a:p>
          <a:p>
            <a:pPr>
              <a:spcBef>
                <a:spcPts val="800"/>
              </a:spcBef>
              <a:defRPr sz="1200" b="1">
                <a:solidFill>
                  <a:srgbClr val="2196F3"/>
                </a:solidFill>
              </a:defRPr>
            </a:pPr>
            <a:r>
              <a:t>name -&gt; brand: </a:t>
            </a:r>
            <a:r>
              <a:rPr b="0">
                <a:solidFill>
                  <a:srgbClr val="282828"/>
                </a:solidFill>
              </a:rPr>
              <a:t>Manufacturer brand token extracted from vehicle name (Maruti, Hyundai, BMW, Toyota, etc.).</a:t>
            </a:r>
          </a:p>
          <a:p>
            <a:pPr>
              <a:spcBef>
                <a:spcPts val="800"/>
              </a:spcBef>
              <a:defRPr sz="1200" b="1">
                <a:solidFill>
                  <a:srgbClr val="2196F3"/>
                </a:solidFill>
              </a:defRPr>
            </a:pPr>
            <a:r>
              <a:t>year -&gt; car_age: </a:t>
            </a:r>
            <a:r>
              <a:rPr b="0">
                <a:solidFill>
                  <a:srgbClr val="282828"/>
                </a:solidFill>
              </a:rPr>
              <a:t>Calculated depreciation span: car_age = 2024 - year.</a:t>
            </a:r>
          </a:p>
          <a:p>
            <a:pPr>
              <a:spcBef>
                <a:spcPts val="800"/>
              </a:spcBef>
              <a:defRPr sz="1200" b="1">
                <a:solidFill>
                  <a:srgbClr val="2196F3"/>
                </a:solidFill>
              </a:defRPr>
            </a:pPr>
            <a:r>
              <a:t>km_driven &amp; car_age -&gt; km_per_year: </a:t>
            </a:r>
            <a:r>
              <a:rPr b="0">
                <a:solidFill>
                  <a:srgbClr val="282828"/>
                </a:solidFill>
              </a:rPr>
              <a:t>Annual usage density metric capturing odometer wear rate per year of ownership.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End-to-End Leakage-Free Pipeline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0804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Benchmark Results Across 6 Regression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Comprehensive evaluation using 5-Fold Cross Validation on the training split, evaluated on unseen test data across both log1p and Indian Rupee (INR) scales.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774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 R2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R2 (Log)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RMSE (Log)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R2 (INR)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RMSE (INR)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MAE (INR)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0.9150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0.9132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0.2201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0.8987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Rs. 149,075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Rs. 73,299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0.9135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0.9067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0.2283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157,688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73,933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0.2551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158,685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89,022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0.2550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160,267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89,101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Lasso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0.2554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165,186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89,576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0.2627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0.8567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177,300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Rs. 88,422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Comparison: R2, RMSE &amp; MAE Profiles</a:t>
            </a:r>
          </a:p>
        </p:txBody>
      </p:sp>
      <p:pic>
        <p:nvPicPr>
          <p:cNvPr id="5" name="Picture 4" descr="eva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5332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Champion Model Diagnostics: Gradient Boosting</a:t>
            </a:r>
          </a:p>
        </p:txBody>
      </p:sp>
      <p:pic>
        <p:nvPicPr>
          <p:cNvPr id="5" name="Picture 4" descr="eval_gradient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7716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Interpretability: Key Price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Key Driver Insights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Maximum Power (bhp): Single highest predictor of vehicle price, capturing vehicle performance class.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Car Age: Leading negative price determinant; confirms exponential initial depreciation.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Engine CC: Strong contributor reflecting vehicle size and prestige tier.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Brand Prestige: German luxury brands (BMW, Mercedes-Benz, Audi) add substantial price premiums.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- Transmission: Automatic transmissions command durable resale margins.</a:t>
            </a:r>
          </a:p>
        </p:txBody>
      </p:sp>
      <p:pic>
        <p:nvPicPr>
          <p:cNvPr id="6" name="Picture 5" descr="interp_gradient_boosting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217920" cy="43371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Feature Ablation: Quantifying Engineering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Ablation Experiment: Removing car_age and km_per_year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</a:defRPr>
            </a:pPr>
            <a:r>
              <a:t>- Hypothesis: Raw year and mileage alone are insufficient; explicit age and annual wear metrics improve predictive resolution.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</a:defRPr>
            </a:pPr>
            <a:r>
              <a:t>- Full Pipeline Model Test R2: 0.9132 | RMSE: 0.2201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</a:defRPr>
            </a:pPr>
            <a:r>
              <a:t>- Ablated Model (No car_age &amp; km_per_year) Test R2: 0.8704 | RMSE: 0.2690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</a:defRPr>
            </a:pPr>
            <a:r>
              <a:t>- Performance Impact: Delta R2 = -0.0428 | RMSE increases by +22.2%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</a:defRPr>
            </a:pPr>
            <a:r>
              <a:t>- Conclusion: Derived depreciation features provide statistically significant explanatory power and are indispensable.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Error Profiling Across Vehicle Price &amp; Age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Segment Error Findings (results/error_analysis.csv)</a:t>
            </a:r>
          </a:p>
          <a:p>
            <a:pPr>
              <a:spcBef>
                <a:spcPts val="1000"/>
              </a:spcBef>
              <a:defRPr sz="1300" b="1">
                <a:solidFill>
                  <a:srgbClr val="2196F3"/>
                </a:solidFill>
              </a:defRPr>
            </a:pPr>
            <a:r>
              <a:t>Budget Segment (&lt; Rs. 205,000): </a:t>
            </a:r>
            <a:r>
              <a:rPr b="0">
                <a:solidFill>
                  <a:srgbClr val="282828"/>
                </a:solidFill>
              </a:rPr>
              <a:t>Median absolute error is just Rs. 24,651 with Mean Absolute Percentage Error (MAPE) of 25.9%.</a:t>
            </a:r>
          </a:p>
          <a:p>
            <a:pPr>
              <a:spcBef>
                <a:spcPts val="1000"/>
              </a:spcBef>
              <a:defRPr sz="1300" b="1">
                <a:solidFill>
                  <a:srgbClr val="2196F3"/>
                </a:solidFill>
              </a:defRPr>
            </a:pPr>
            <a:r>
              <a:t>Midrange Segment (Rs. 350,000 - Rs. 700,000): </a:t>
            </a:r>
            <a:r>
              <a:rPr b="0">
                <a:solidFill>
                  <a:srgbClr val="282828"/>
                </a:solidFill>
              </a:rPr>
              <a:t>Lowest relative error with MAPE of 13.0% - 13.5% and median error of Rs. 48,000 - Rs. 61,000.</a:t>
            </a:r>
          </a:p>
          <a:p>
            <a:pPr>
              <a:spcBef>
                <a:spcPts val="1000"/>
              </a:spcBef>
              <a:defRPr sz="1300" b="1">
                <a:solidFill>
                  <a:srgbClr val="2196F3"/>
                </a:solidFill>
              </a:defRPr>
            </a:pPr>
            <a:r>
              <a:t>Luxury Segment (&gt; Rs. 700,000): </a:t>
            </a:r>
            <a:r>
              <a:rPr b="0">
                <a:solidFill>
                  <a:srgbClr val="282828"/>
                </a:solidFill>
              </a:rPr>
              <a:t>Higher absolute error (median Rs. 103,100) but consistent percentage error (13.3%), validating model stability across tiers.</a:t>
            </a:r>
          </a:p>
          <a:p>
            <a:pPr>
              <a:spcBef>
                <a:spcPts val="1000"/>
              </a:spcBef>
              <a:defRPr sz="1300" b="1">
                <a:solidFill>
                  <a:srgbClr val="2196F3"/>
                </a:solidFill>
              </a:defRPr>
            </a:pPr>
            <a:r>
              <a:t>Brand Accuracy: </a:t>
            </a:r>
            <a:r>
              <a:rPr b="0">
                <a:solidFill>
                  <a:srgbClr val="282828"/>
                </a:solidFill>
              </a:rPr>
              <a:t>Top volume brands Maruti (N=419, median error Rs. 30,706) and Hyundai (N=271, median error Rs. 42,484) exhibit tight error bounds.</a:t>
            </a:r>
          </a:p>
          <a:p>
            <a:pPr>
              <a:spcBef>
                <a:spcPts val="1000"/>
              </a:spcBef>
              <a:defRPr sz="1300" b="1">
                <a:solidFill>
                  <a:srgbClr val="2196F3"/>
                </a:solidFill>
              </a:defRPr>
            </a:pPr>
            <a:r>
              <a:t>Vehicle Age Tiers: </a:t>
            </a:r>
            <a:r>
              <a:rPr b="0">
                <a:solidFill>
                  <a:srgbClr val="282828"/>
                </a:solidFill>
              </a:rPr>
              <a:t>Vehicles aged 3-6 years exhibit the lowest MAPE (10.75%), while 10+ year vehicles show higher variance (21.4% MAPE) due to mechanical condition heterogeneity.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Summary &amp; Verified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Summary of Contributions</a:t>
            </a:r>
          </a:p>
          <a:p>
            <a:pPr>
              <a:spcBef>
                <a:spcPts val="1200"/>
              </a:spcBef>
              <a:defRPr sz="1400">
                <a:solidFill>
                  <a:srgbClr val="282828"/>
                </a:solidFill>
              </a:defRPr>
            </a:pPr>
            <a:r>
              <a:t>- End-to-End Leakage-Free Pipeline: Built with scikit-learn, joblib, and pandas, executing all scaling and imputing strictly on training partitions.</a:t>
            </a:r>
          </a:p>
          <a:p>
            <a:pPr>
              <a:spcBef>
                <a:spcPts val="1200"/>
              </a:spcBef>
              <a:defRPr sz="1400">
                <a:solidFill>
                  <a:srgbClr val="282828"/>
                </a:solidFill>
              </a:defRPr>
            </a:pPr>
            <a:r>
              <a:t>- Superior Champion Model: Tuned Gradient Boosting achieved Test R2 = 0.9132 (Log) and 0.8987 (Rupee), with MAE of Rs. 73,299.</a:t>
            </a:r>
          </a:p>
          <a:p>
            <a:pPr>
              <a:spcBef>
                <a:spcPts val="1200"/>
              </a:spcBef>
              <a:defRPr sz="1400">
                <a:solidFill>
                  <a:srgbClr val="282828"/>
                </a:solidFill>
              </a:defRPr>
            </a:pPr>
            <a:r>
              <a:t>- Ablation Confirmed: Feature engineering provides +0.0428 boost in R2.</a:t>
            </a:r>
          </a:p>
          <a:p>
            <a:pPr>
              <a:spcBef>
                <a:spcPts val="1200"/>
              </a:spcBef>
              <a:defRPr sz="1400">
                <a:solidFill>
                  <a:srgbClr val="282828"/>
                </a:solidFill>
              </a:defRPr>
            </a:pPr>
            <a:r>
              <a:t>- Deliverables Complete: Runnable main.ipynb notebook, full 15-section report, literature review table, architecture diagrams, sample data, and 15-slide presentation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